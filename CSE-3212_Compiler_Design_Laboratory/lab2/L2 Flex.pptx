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Garamon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gZlqu1GtIoLvabQOCaXLRSC8S1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E7180B-7518-40B3-B282-78A3FBDCC93F}">
  <a:tblStyle styleId="{2EE7180B-7518-40B3-B282-78A3FBDCC93F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EFE7"/>
          </a:solidFill>
        </a:fill>
      </a:tcStyle>
    </a:wholeTbl>
    <a:band1H>
      <a:tcTxStyle/>
      <a:tcStyle>
        <a:fill>
          <a:solidFill>
            <a:srgbClr val="D8DDCB"/>
          </a:solidFill>
        </a:fill>
      </a:tcStyle>
    </a:band1H>
    <a:band2H>
      <a:tcTxStyle/>
    </a:band2H>
    <a:band1V>
      <a:tcTxStyle/>
      <a:tcStyle>
        <a:fill>
          <a:solidFill>
            <a:srgbClr val="D8DDCB"/>
          </a:solidFill>
        </a:fill>
      </a:tcStyle>
    </a:band1V>
    <a:band2V>
      <a:tcTxStyle/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Garamond-italic.fntdata"/><Relationship Id="rId16" Type="http://schemas.openxmlformats.org/officeDocument/2006/relationships/slide" Target="slides/slide11.xml"/><Relationship Id="rId38" Type="http://schemas.openxmlformats.org/officeDocument/2006/relationships/font" Target="fonts/Garamon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3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18" name="Google Shape;18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33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0" name="Google Shape;2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1" name="Google Shape;2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3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33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3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35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3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36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3" name="Google Shape;53;p37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5" name="Google Shape;55;p37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3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3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0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4" name="Google Shape;74;p4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40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" name="Google Shape;81;p41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2" name="Google Shape;82;p4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42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9" name="Google Shape;89;p4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3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3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4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4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4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44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4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4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5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5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6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6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6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4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6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46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4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7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7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47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4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4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8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6" name="Google Shape;136;p4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4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9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9"/>
          <p:cNvSpPr txBox="1"/>
          <p:nvPr>
            <p:ph idx="1" type="body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3" name="Google Shape;143;p4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49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jp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2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7" name="Google Shape;7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2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US"/>
              <a:t>Flex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en-US"/>
              <a:t>Presented By:</a:t>
            </a:r>
            <a:br>
              <a:rPr lang="en-US"/>
            </a:br>
            <a:r>
              <a:rPr lang="en-US"/>
              <a:t>Dola Das</a:t>
            </a:r>
            <a:endParaRPr/>
          </a:p>
          <a:p>
            <a:pPr indent="0" lvl="0" marL="0" rtl="0" algn="ctr">
              <a:spcBef>
                <a:spcPts val="404"/>
              </a:spcBef>
              <a:spcAft>
                <a:spcPts val="0"/>
              </a:spcAft>
              <a:buSzPts val="2415"/>
              <a:buNone/>
            </a:pPr>
            <a:r>
              <a:rPr lang="en-US"/>
              <a:t>Dipannita Biswas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1295401" y="561218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Phases of Compiler</a:t>
            </a:r>
            <a:endParaRPr/>
          </a:p>
        </p:txBody>
      </p:sp>
      <p:pic>
        <p:nvPicPr>
          <p:cNvPr id="158" name="Google Shape;158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084" y="2402005"/>
            <a:ext cx="8969829" cy="378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1295401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</a:t>
            </a:r>
            <a:endParaRPr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b="1" lang="en-US" sz="2400">
                <a:solidFill>
                  <a:schemeClr val="dk1"/>
                </a:solidFill>
              </a:rPr>
              <a:t>Lexical Analysis</a:t>
            </a:r>
            <a:r>
              <a:rPr lang="en-US" sz="2400">
                <a:solidFill>
                  <a:schemeClr val="dk1"/>
                </a:solidFill>
              </a:rPr>
              <a:t>: Dividing the input into meaningful units. For a C program the units are variables, constants, keywords, operators, punctuation etc. These units also called as tokens. (we will use </a:t>
            </a:r>
            <a:r>
              <a:rPr b="1" lang="en-US" sz="2400">
                <a:solidFill>
                  <a:schemeClr val="dk1"/>
                </a:solidFill>
              </a:rPr>
              <a:t>Flex</a:t>
            </a:r>
            <a:r>
              <a:rPr lang="en-US" sz="2400">
                <a:solidFill>
                  <a:schemeClr val="dk1"/>
                </a:solidFill>
              </a:rPr>
              <a:t>)</a:t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b="1" lang="en-US">
                <a:solidFill>
                  <a:schemeClr val="dk1"/>
                </a:solidFill>
              </a:rPr>
              <a:t>Flex: A fast Lexical Analyzer Generator</a:t>
            </a:r>
            <a:endParaRPr/>
          </a:p>
          <a:p>
            <a:pPr indent="-285750" lvl="1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b="1" lang="en-US" sz="2400">
                <a:solidFill>
                  <a:schemeClr val="dk1"/>
                </a:solidFill>
              </a:rPr>
              <a:t>Parsing</a:t>
            </a:r>
            <a:r>
              <a:rPr lang="en-US" sz="2400">
                <a:solidFill>
                  <a:schemeClr val="dk1"/>
                </a:solidFill>
              </a:rPr>
              <a:t>: Involves finding the relationship between input tokens. For a C program, one needs to identify valid expressions, statements, blocks, procedures etc. (Use </a:t>
            </a:r>
            <a:r>
              <a:rPr b="1" lang="en-US" sz="2400">
                <a:solidFill>
                  <a:schemeClr val="dk1"/>
                </a:solidFill>
              </a:rPr>
              <a:t>Bison</a:t>
            </a:r>
            <a:r>
              <a:rPr lang="en-US" sz="2400">
                <a:solidFill>
                  <a:schemeClr val="dk1"/>
                </a:solidFill>
              </a:rPr>
              <a:t>)</a:t>
            </a:r>
            <a:endParaRPr/>
          </a:p>
          <a:p>
            <a:pPr indent="-11049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049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1295401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</a:t>
            </a:r>
            <a:endParaRPr/>
          </a:p>
        </p:txBody>
      </p:sp>
      <p:sp>
        <p:nvSpPr>
          <p:cNvPr id="170" name="Google Shape;170;p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 sz="2400">
                <a:solidFill>
                  <a:schemeClr val="dk1"/>
                </a:solidFill>
              </a:rPr>
              <a:t>Flex takes a program written in a combination of Flex and C, and it writes out a file (called lex.yy.c) that holds a definition of function yylex(), with the following prototype.</a:t>
            </a:r>
            <a:endParaRPr b="1" sz="2400">
              <a:solidFill>
                <a:schemeClr val="dk1"/>
              </a:solidFill>
            </a:endParaRPr>
          </a:p>
          <a:p>
            <a:pPr indent="0" lvl="1" marL="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b="1" lang="en-US" sz="2400">
                <a:solidFill>
                  <a:schemeClr val="dk1"/>
                </a:solidFill>
              </a:rPr>
              <a:t>	  int yylex(void)</a:t>
            </a:r>
            <a:endParaRPr>
              <a:solidFill>
                <a:schemeClr val="dk1"/>
              </a:solidFill>
            </a:endParaRPr>
          </a:p>
          <a:p>
            <a:pPr indent="-11049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1295401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file to read</a:t>
            </a:r>
            <a:endParaRPr/>
          </a:p>
        </p:txBody>
      </p:sp>
      <p:sp>
        <p:nvSpPr>
          <p:cNvPr id="176" name="Google Shape;176;p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 sz="2400">
                <a:solidFill>
                  <a:schemeClr val="dk1"/>
                </a:solidFill>
              </a:rPr>
              <a:t>yylex reads from the file stored in variable yyin:</a:t>
            </a:r>
            <a:endParaRPr sz="2400">
              <a:solidFill>
                <a:schemeClr val="dk1"/>
              </a:solidFill>
            </a:endParaRPr>
          </a:p>
          <a:p>
            <a:pPr indent="-285750" lvl="1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sz="2400">
                <a:solidFill>
                  <a:schemeClr val="dk1"/>
                </a:solidFill>
              </a:rPr>
              <a:t>  FILE* yyin;</a:t>
            </a:r>
            <a:endParaRPr/>
          </a:p>
          <a:p>
            <a:pPr indent="-285750" lvl="1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sz="2400">
                <a:solidFill>
                  <a:schemeClr val="dk1"/>
                </a:solidFill>
              </a:rPr>
              <a:t>It is up to you to open a file for reading and store it into yyin before you call yylex.</a:t>
            </a:r>
            <a:endParaRPr/>
          </a:p>
          <a:p>
            <a:pPr indent="-285750" lvl="1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sz="2400">
                <a:solidFill>
                  <a:schemeClr val="dk1"/>
                </a:solidFill>
              </a:rPr>
              <a:t>Each time your program calls yylex, it returns the next token (an integer token code).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type="title"/>
          </p:nvPr>
        </p:nvSpPr>
        <p:spPr>
          <a:xfrm>
            <a:off x="1295401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file to read</a:t>
            </a:r>
            <a:endParaRPr/>
          </a:p>
        </p:txBody>
      </p:sp>
      <p:sp>
        <p:nvSpPr>
          <p:cNvPr id="182" name="Google Shape;182;p6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When yylex is finished, it call function yywrap(). </a:t>
            </a:r>
            <a:r>
              <a:rPr i="1" lang="en-US"/>
              <a:t>If yywrap() returns 1, then yylex returns 0 to its caller.</a:t>
            </a:r>
            <a:r>
              <a:rPr lang="en-US"/>
              <a:t> That means "end of file".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yywrap returns 0, then yylex assumes that you have stored a different file into yyin, and it starts reading that file.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Pattern Matching</a:t>
            </a:r>
            <a:endParaRPr/>
          </a:p>
        </p:txBody>
      </p:sp>
      <p:graphicFrame>
        <p:nvGraphicFramePr>
          <p:cNvPr id="188" name="Google Shape;188;p7"/>
          <p:cNvGraphicFramePr/>
          <p:nvPr/>
        </p:nvGraphicFramePr>
        <p:xfrm>
          <a:off x="1445527" y="1834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{2EE7180B-7518-40B3-B282-78A3FBDCC93F}</a:tableStyleId>
              </a:tblPr>
              <a:tblGrid>
                <a:gridCol w="3208350"/>
                <a:gridCol w="6392850"/>
              </a:tblGrid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Metacharacter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Matches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any character except newline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\n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newline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zero or more copies of the preceding expression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one or more copies of the preceding   expression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zero or one copy of the preceding expression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^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beginning of line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end of line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a|b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 or b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(ab)+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one or more copies of ab (grouping)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"a+b"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literal "a+b" (C escapes still work)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]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Character class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RE</a:t>
            </a:r>
            <a:endParaRPr/>
          </a:p>
        </p:txBody>
      </p:sp>
      <p:graphicFrame>
        <p:nvGraphicFramePr>
          <p:cNvPr id="194" name="Google Shape;194;p8"/>
          <p:cNvGraphicFramePr/>
          <p:nvPr/>
        </p:nvGraphicFramePr>
        <p:xfrm>
          <a:off x="1459175" y="2352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{2EE7180B-7518-40B3-B282-78A3FBDCC93F}</a:tableStyleId>
              </a:tblPr>
              <a:tblGrid>
                <a:gridCol w="1911825"/>
                <a:gridCol w="7689375"/>
              </a:tblGrid>
              <a:tr h="46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Matches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250" marB="6250" marR="6250" marL="6250" anchor="ctr"/>
                </a:tc>
              </a:tr>
              <a:tr h="51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string s literally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\c 	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character c; literally, where c would normally be a lex operator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[s]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character class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51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[~s]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characters not in character class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51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[s-t]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range of characters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51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s?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 occurs zero or one time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RE</a:t>
            </a:r>
            <a:endParaRPr/>
          </a:p>
        </p:txBody>
      </p:sp>
      <p:graphicFrame>
        <p:nvGraphicFramePr>
          <p:cNvPr id="200" name="Google Shape;200;p9"/>
          <p:cNvGraphicFramePr/>
          <p:nvPr/>
        </p:nvGraphicFramePr>
        <p:xfrm>
          <a:off x="1281754" y="19857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{2EE7180B-7518-40B3-B282-78A3FBDCC93F}</a:tableStyleId>
              </a:tblPr>
              <a:tblGrid>
                <a:gridCol w="2689750"/>
                <a:gridCol w="6911450"/>
              </a:tblGrid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Matches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250" marB="6250" marR="6250" marL="6250" anchor="ctr"/>
                </a:tc>
              </a:tr>
              <a:tr h="47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Garamond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s*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Garamond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zero or more occurrences of 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s+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one or more occurrences of 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r|s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 or 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(s)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end of line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r{2,5}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anywhere from two to five r’s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r{2,}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two or more r’s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r{4}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exactly 4 r’s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Example</a:t>
            </a:r>
            <a:endParaRPr/>
          </a:p>
        </p:txBody>
      </p:sp>
      <p:graphicFrame>
        <p:nvGraphicFramePr>
          <p:cNvPr id="206" name="Google Shape;206;p10"/>
          <p:cNvGraphicFramePr/>
          <p:nvPr/>
        </p:nvGraphicFramePr>
        <p:xfrm>
          <a:off x="1363640" y="20335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{2EE7180B-7518-40B3-B282-78A3FBDCC93F}</a:tableStyleId>
              </a:tblPr>
              <a:tblGrid>
                <a:gridCol w="1980050"/>
                <a:gridCol w="7621150"/>
              </a:tblGrid>
              <a:tr h="42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Matches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250" marB="6250" marR="6250" marL="6250" anchor="ctr"/>
                </a:tc>
              </a:tr>
              <a:tr h="47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a(b|c)d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abd or acd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51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^start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beginning of line with then the literal characters start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7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END$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the characters END followed by an end-of-line.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4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(s)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43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end of line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60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s/r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 iff followed by r (not recommended) (r is </a:t>
                      </a: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*NOT*consumed)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  <a:tr h="60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s{m,n} 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m through n occurrences of s</a:t>
                      </a:r>
                      <a:endParaRPr sz="2400" u="none" cap="none" strike="noStrike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Example</a:t>
            </a:r>
            <a:endParaRPr/>
          </a:p>
        </p:txBody>
      </p:sp>
      <p:graphicFrame>
        <p:nvGraphicFramePr>
          <p:cNvPr id="212" name="Google Shape;212;p11"/>
          <p:cNvGraphicFramePr/>
          <p:nvPr/>
        </p:nvGraphicFramePr>
        <p:xfrm>
          <a:off x="1281754" y="1985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{2EE7180B-7518-40B3-B282-78A3FBDCC93F}</a:tableStyleId>
              </a:tblPr>
              <a:tblGrid>
                <a:gridCol w="3208350"/>
                <a:gridCol w="6392850"/>
              </a:tblGrid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Matches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Garamond"/>
                        <a:buNone/>
                      </a:pPr>
                      <a:r>
                        <a:rPr lang="en-US" sz="2800" u="none" cap="none" strike="noStrike"/>
                        <a:t>a*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zero or more a’s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.*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zero or more of any character except newline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.+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one or more characters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[a-z]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 lowercase letter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[a-zA-Z]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any alphabetic letter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[^a-zA-Z]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any non-alphabetic character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a.b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 followed by any character followed by b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rs|tu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rs or tu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Example</a:t>
            </a:r>
            <a:endParaRPr/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Difference among [a-z], [-az] and [-a-z]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Are those same: A+ and AA*</a:t>
            </a:r>
            <a:endParaRPr/>
          </a:p>
          <a:p>
            <a:pPr indent="-11049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Function Example</a:t>
            </a:r>
            <a:endParaRPr/>
          </a:p>
        </p:txBody>
      </p:sp>
      <p:sp>
        <p:nvSpPr>
          <p:cNvPr id="224" name="Google Shape;224;p16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b="1" lang="en-US"/>
              <a:t>yywrap() </a:t>
            </a:r>
            <a:r>
              <a:rPr lang="en-US"/>
              <a:t>- wraps the above rule section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b="1" lang="en-US"/>
              <a:t>yyin</a:t>
            </a:r>
            <a:r>
              <a:rPr lang="en-US"/>
              <a:t> - takes the file pointer which contains the input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b="1" lang="en-US"/>
              <a:t>yylex() </a:t>
            </a:r>
            <a:r>
              <a:rPr lang="en-US"/>
              <a:t>- this is the main flex function which runs the Rule Section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b="1" lang="en-US"/>
              <a:t>yytext</a:t>
            </a:r>
            <a:r>
              <a:rPr lang="en-US"/>
              <a:t> - is the text in the buffer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yywrap()</a:t>
            </a:r>
            <a:endParaRPr/>
          </a:p>
        </p:txBody>
      </p:sp>
      <p:sp>
        <p:nvSpPr>
          <p:cNvPr id="230" name="Google Shape;230;p17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Function yywrap is called by lex when input is exhausted.  When the end of the file is reached the return value of yywrap() is checked.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it is non-zero, scanning terminates and if it is 0 scanning continues with next input file.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Example</a:t>
            </a:r>
            <a:endParaRPr/>
          </a:p>
        </p:txBody>
      </p:sp>
      <p:graphicFrame>
        <p:nvGraphicFramePr>
          <p:cNvPr id="236" name="Google Shape;236;p18"/>
          <p:cNvGraphicFramePr/>
          <p:nvPr/>
        </p:nvGraphicFramePr>
        <p:xfrm>
          <a:off x="1281754" y="1985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{2EE7180B-7518-40B3-B282-78A3FBDCC93F}</a:tableStyleId>
              </a:tblPr>
              <a:tblGrid>
                <a:gridCol w="3208350"/>
                <a:gridCol w="6392850"/>
              </a:tblGrid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Matches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0" marB="6250" marR="6250" marL="6250" anchor="ctr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[:alpha:]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[a-zA-Z]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[:digit:]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[0-9]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[:alnum:]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[a-zA-Z0-9]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[:lower:]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[a-z]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[:upper:]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[A-Z]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[:punct:]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All punctuation marks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[:space:]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space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Example</a:t>
            </a:r>
            <a:endParaRPr/>
          </a:p>
        </p:txBody>
      </p:sp>
      <p:sp>
        <p:nvSpPr>
          <p:cNvPr id="242" name="Google Shape;242;p19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regular expressions listed above are grouped according to precedence, from highest precedence at the top to lowest at the bottom. Those grouped together have equal precedence.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For example,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/>
              <a:t>		</a:t>
            </a:r>
            <a:r>
              <a:rPr b="1" lang="en-US"/>
              <a:t>foo|bar* </a:t>
            </a:r>
            <a:r>
              <a:rPr lang="en-US"/>
              <a:t>matches ????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(foo)|(bar)*, fo(o|b)ar*, (foo|bar)*, (foo)|((ba)r*)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Example</a:t>
            </a:r>
            <a:endParaRPr/>
          </a:p>
        </p:txBody>
      </p:sp>
      <p:sp>
        <p:nvSpPr>
          <p:cNvPr id="248" name="Google Shape;248;p20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Since the ’*’ operator has higher precedence than concatenation, and concatenation higher than alternation (’|’). This pattern therefore matches either the string "foo" or the string "ba" followed by zero-or-more r’s.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To match "foo" or zero-or-more "bar"’s, use: </a:t>
            </a:r>
            <a:r>
              <a:rPr b="1" lang="en-US"/>
              <a:t>foo|(bar)*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To match zero-or-more "foo"’s-or-"bar"’s:  </a:t>
            </a:r>
            <a:r>
              <a:rPr b="1" lang="en-US"/>
              <a:t>(foo|bar)*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– Function</a:t>
            </a:r>
            <a:endParaRPr/>
          </a:p>
        </p:txBody>
      </p:sp>
      <p:sp>
        <p:nvSpPr>
          <p:cNvPr id="254" name="Google Shape;254;p13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</a:t>
            </a:r>
            <a:r>
              <a:rPr b="1" lang="en-US"/>
              <a:t>yyless(n)</a:t>
            </a:r>
            <a:r>
              <a:rPr lang="en-US"/>
              <a:t> function, accepts n characters of the token and then they will be re-scanned for finding the next match. It basically keeps reducing n characters and returns the string for re-scanning 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</a:t>
            </a:r>
            <a:r>
              <a:rPr b="1" lang="en-US"/>
              <a:t>yymore() </a:t>
            </a:r>
            <a:r>
              <a:rPr lang="en-US"/>
              <a:t>function will output yytext, when the action part of any rule which has yymore() is finished. It basically outputs the matched input only after the rule has been executed.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- Function</a:t>
            </a:r>
            <a:endParaRPr/>
          </a:p>
        </p:txBody>
      </p:sp>
      <p:sp>
        <p:nvSpPr>
          <p:cNvPr id="260" name="Google Shape;260;p1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</a:t>
            </a:r>
            <a:r>
              <a:rPr b="1" lang="en-US"/>
              <a:t>yy_flush_buffer() </a:t>
            </a:r>
            <a:r>
              <a:rPr lang="en-US"/>
              <a:t>function flushes out the first two characters of the token by setting it to NULL(‘\0’) character.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</a:t>
            </a:r>
            <a:r>
              <a:rPr b="1" lang="en-US"/>
              <a:t>yyterminate() </a:t>
            </a:r>
            <a:r>
              <a:rPr lang="en-US"/>
              <a:t>function ends the execution of the program as soon as it is called.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</a:t>
            </a:r>
            <a:r>
              <a:rPr b="1" lang="en-US"/>
              <a:t>unput()</a:t>
            </a:r>
            <a:r>
              <a:rPr lang="en-US"/>
              <a:t> function reads the characters and basically replaces those characters.</a:t>
            </a:r>
            <a:endParaRPr/>
          </a:p>
          <a:p>
            <a:pPr indent="-11049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Flex - Function</a:t>
            </a:r>
            <a:endParaRPr/>
          </a:p>
        </p:txBody>
      </p:sp>
      <p:sp>
        <p:nvSpPr>
          <p:cNvPr id="266" name="Google Shape;266;p1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</a:t>
            </a:r>
            <a:r>
              <a:rPr b="1" lang="en-US"/>
              <a:t>input()</a:t>
            </a:r>
            <a:r>
              <a:rPr lang="en-US"/>
              <a:t> function reads the characters and makes them unavailable to the scanner. It is basically like truncating those characters. In the program below, if we find a string starting with comment ‘/*’ the input() function will read characters till we find ‘*/’ and will not show these characters/.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How the input is matched</a:t>
            </a:r>
            <a:endParaRPr/>
          </a:p>
        </p:txBody>
      </p:sp>
      <p:sp>
        <p:nvSpPr>
          <p:cNvPr id="272" name="Google Shape;272;p2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it finds more than one match, it takes the one matching the most text.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it finds two or more matches of the same length, the rule listed first in the flex input file is chosen.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Once the match is determined, the text corresponding to the match (called the token) is made available in the global character pointer </a:t>
            </a:r>
            <a:r>
              <a:rPr b="1" lang="en-US">
                <a:solidFill>
                  <a:srgbClr val="FF0000"/>
                </a:solidFill>
              </a:rPr>
              <a:t>yytext</a:t>
            </a:r>
            <a:r>
              <a:rPr lang="en-US"/>
              <a:t>, and its length in the global integer </a:t>
            </a:r>
            <a:r>
              <a:rPr b="1" lang="en-US">
                <a:solidFill>
                  <a:srgbClr val="FF0000"/>
                </a:solidFill>
              </a:rPr>
              <a:t>yyleng</a:t>
            </a:r>
            <a:r>
              <a:rPr lang="en-US"/>
              <a:t>. 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How the input is matched</a:t>
            </a:r>
            <a:endParaRPr/>
          </a:p>
        </p:txBody>
      </p:sp>
      <p:sp>
        <p:nvSpPr>
          <p:cNvPr id="278" name="Google Shape;278;p2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no match is found, then the default rule is executed: the next character in the input is considered matched and copied to the standard output. Thus, the simplest legal flex input is: 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/>
              <a:t>					</a:t>
            </a:r>
            <a:r>
              <a:rPr b="1" lang="en-US"/>
              <a:t>%%</a:t>
            </a:r>
            <a:endParaRPr b="1"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which generates a scanner that simply copies its input (one character at a time) to its output.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How the input is matched</a:t>
            </a:r>
            <a:endParaRPr/>
          </a:p>
        </p:txBody>
      </p:sp>
      <p:sp>
        <p:nvSpPr>
          <p:cNvPr id="284" name="Google Shape;284;p23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Note that </a:t>
            </a:r>
            <a:r>
              <a:rPr b="1" lang="en-US"/>
              <a:t>yytext</a:t>
            </a:r>
            <a:r>
              <a:rPr lang="en-US"/>
              <a:t> can be defined in two different ways: either as a </a:t>
            </a:r>
            <a:r>
              <a:rPr b="1" lang="en-US"/>
              <a:t>character pointer</a:t>
            </a:r>
            <a:r>
              <a:rPr lang="en-US"/>
              <a:t> or as a </a:t>
            </a:r>
            <a:r>
              <a:rPr b="1" lang="en-US"/>
              <a:t>character array</a:t>
            </a:r>
            <a:r>
              <a:rPr lang="en-US"/>
              <a:t>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You can control which definition flex uses by including one of the special directives ‘%pointer’ or ‘%array’ in the first (definitions) section of your flex input.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default is ‘%pointer’,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Actions</a:t>
            </a:r>
            <a:endParaRPr/>
          </a:p>
        </p:txBody>
      </p:sp>
      <p:sp>
        <p:nvSpPr>
          <p:cNvPr id="290" name="Google Shape;290;p2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Each pattern in a rule has a corresponding action, which can be any arbitrary C statement. 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pattern ends at the first non-escaped whitespace character; the remainder of the line is its action.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the action is empty, then when the pattern is matched the input token is simply discarded.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Actions</a:t>
            </a:r>
            <a:endParaRPr/>
          </a:p>
        </p:txBody>
      </p:sp>
      <p:sp>
        <p:nvSpPr>
          <p:cNvPr id="296" name="Google Shape;296;p2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the action contains a ’{’, then the action spans till the balancing ’}’ is found, and the action may cross multiple lines. 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Actions can include arbitrary C code, including return statements to return a value to whatever routine called ‘yylex()’. 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Each time ‘yylex()’ is called it continues processing tokens from where it last left off until it either reaches the end of the file or executes a return.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Actions</a:t>
            </a:r>
            <a:endParaRPr/>
          </a:p>
        </p:txBody>
      </p:sp>
      <p:sp>
        <p:nvSpPr>
          <p:cNvPr id="302" name="Google Shape;302;p26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There are a number of special directives which can be included within an action:</a:t>
            </a:r>
            <a:endParaRPr/>
          </a:p>
          <a:p>
            <a:pPr indent="-285750" lvl="1" marL="742950" rtl="0" algn="l">
              <a:spcBef>
                <a:spcPts val="1040"/>
              </a:spcBef>
              <a:spcAft>
                <a:spcPts val="0"/>
              </a:spcAft>
              <a:buSzPts val="2530"/>
              <a:buFont typeface="Courier New"/>
              <a:buChar char="o"/>
            </a:pPr>
            <a:r>
              <a:rPr b="1" lang="en-US" sz="2200"/>
              <a:t>ECHO</a:t>
            </a:r>
            <a:r>
              <a:rPr lang="en-US" sz="2200"/>
              <a:t> copies yytext to the scanner’s output.</a:t>
            </a:r>
            <a:endParaRPr/>
          </a:p>
          <a:p>
            <a:pPr indent="-285750" lvl="1" marL="742950" rtl="0" algn="l">
              <a:spcBef>
                <a:spcPts val="1040"/>
              </a:spcBef>
              <a:spcAft>
                <a:spcPts val="0"/>
              </a:spcAft>
              <a:buSzPts val="2530"/>
              <a:buFont typeface="Courier New"/>
              <a:buChar char="o"/>
            </a:pPr>
            <a:r>
              <a:rPr b="1" lang="en-US" sz="2200"/>
              <a:t>BEGIN</a:t>
            </a:r>
            <a:r>
              <a:rPr lang="en-US" sz="2200"/>
              <a:t> followed by the name of a start condition places the scanner in the corresponding start condition.</a:t>
            </a:r>
            <a:endParaRPr/>
          </a:p>
          <a:p>
            <a:pPr indent="-285750" lvl="1" marL="742950" rtl="0" algn="l">
              <a:spcBef>
                <a:spcPts val="1040"/>
              </a:spcBef>
              <a:spcAft>
                <a:spcPts val="0"/>
              </a:spcAft>
              <a:buSzPts val="2530"/>
              <a:buFont typeface="Courier New"/>
              <a:buChar char="o"/>
            </a:pPr>
            <a:r>
              <a:rPr b="1" lang="en-US" sz="2200"/>
              <a:t>REJECT</a:t>
            </a:r>
            <a:r>
              <a:rPr lang="en-US" sz="2200"/>
              <a:t> directs the scanner to proceed on to the "second best" rule which matched the input (or a prefix of the input).</a:t>
            </a:r>
            <a:endParaRPr b="1"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ECHO &amp; REJECT</a:t>
            </a:r>
            <a:endParaRPr/>
          </a:p>
        </p:txBody>
      </p:sp>
      <p:sp>
        <p:nvSpPr>
          <p:cNvPr id="308" name="Google Shape;308;p27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ECHO statement copies the token matched to the output.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Whenever REJECT statement is executed, the last letter will be treated with the matched token and will continue with the prefixed input for the next action or rule.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Another application of yymore()</a:t>
            </a:r>
            <a:endParaRPr/>
          </a:p>
        </p:txBody>
      </p:sp>
      <p:sp>
        <p:nvSpPr>
          <p:cNvPr id="314" name="Google Shape;314;p28"/>
          <p:cNvSpPr txBox="1"/>
          <p:nvPr>
            <p:ph idx="1" type="body"/>
          </p:nvPr>
        </p:nvSpPr>
        <p:spPr>
          <a:xfrm>
            <a:off x="1172570" y="2597875"/>
            <a:ext cx="9909411" cy="3598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‘</a:t>
            </a:r>
            <a:r>
              <a:rPr b="1" lang="en-US"/>
              <a:t>yymore()</a:t>
            </a:r>
            <a:r>
              <a:rPr lang="en-US"/>
              <a:t>’ tells the scanner that the next time it matches a rule, the corresponding token should be appended onto the current value of yytext rather than replacing it. For example, given the input "mega-kludge" the following will write "mega-mega-kludge" to the output:</a:t>
            </a:r>
            <a:endParaRPr/>
          </a:p>
          <a:p>
            <a:pPr indent="0" lvl="4" marL="1714500" rtl="0" algn="just">
              <a:spcBef>
                <a:spcPts val="600"/>
              </a:spcBef>
              <a:spcAft>
                <a:spcPts val="0"/>
              </a:spcAft>
              <a:buSzPct val="115000"/>
              <a:buNone/>
            </a:pPr>
            <a:r>
              <a:rPr lang="en-US" sz="2800"/>
              <a:t>%%</a:t>
            </a:r>
            <a:endParaRPr sz="2800"/>
          </a:p>
          <a:p>
            <a:pPr indent="0" lvl="4" marL="1714500" rtl="0" algn="just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lang="en-US" sz="2800"/>
              <a:t>mega- ECHO; yymore();</a:t>
            </a:r>
            <a:endParaRPr/>
          </a:p>
          <a:p>
            <a:pPr indent="0" lvl="4" marL="1714500" rtl="0" algn="just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lang="en-US" sz="2800"/>
              <a:t>kludge ECHO;</a:t>
            </a:r>
            <a:endParaRPr/>
          </a:p>
          <a:p>
            <a:pPr indent="-285750" lvl="0" marL="285750" rtl="0" algn="just">
              <a:spcBef>
                <a:spcPts val="444"/>
              </a:spcBef>
              <a:spcAft>
                <a:spcPts val="0"/>
              </a:spcAft>
              <a:buSzPct val="125454"/>
              <a:buChar char="•"/>
            </a:pPr>
            <a:r>
              <a:rPr lang="en-US"/>
              <a:t>First "mega-" is matched and echoed to the output. Then "kludge" is matched, but the previous "mega-" is still hanging around at the beginning of yytext so the ‘ECHO’ for the "kludge" rule will actually write "mega-kludge".</a:t>
            </a:r>
            <a:endParaRPr b="1"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generated scanner</a:t>
            </a:r>
            <a:endParaRPr/>
          </a:p>
        </p:txBody>
      </p:sp>
      <p:sp>
        <p:nvSpPr>
          <p:cNvPr id="320" name="Google Shape;320;p29"/>
          <p:cNvSpPr txBox="1"/>
          <p:nvPr>
            <p:ph idx="1" type="body"/>
          </p:nvPr>
        </p:nvSpPr>
        <p:spPr>
          <a:xfrm>
            <a:off x="1158922" y="2406807"/>
            <a:ext cx="9909411" cy="383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The output of flex is the file ‘lex.yy.c’, which contains the scanning routine ‘yylex()’, a number of tables used by it for matching tokens, and a number of auxiliary routines and macros. 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By default, ‘yylex()’ is declared as follows:</a:t>
            </a:r>
            <a:endParaRPr/>
          </a:p>
          <a:p>
            <a:pPr indent="0" lvl="3" marL="125730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 sz="2400"/>
              <a:t>int yylex()</a:t>
            </a:r>
            <a:endParaRPr/>
          </a:p>
          <a:p>
            <a:pPr indent="0" lvl="3" marL="125730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 sz="2400"/>
              <a:t>{</a:t>
            </a:r>
            <a:endParaRPr/>
          </a:p>
          <a:p>
            <a:pPr indent="0" lvl="3" marL="125730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 sz="2400"/>
              <a:t>... various definitions and the actions in here ...</a:t>
            </a:r>
            <a:endParaRPr/>
          </a:p>
          <a:p>
            <a:pPr indent="0" lvl="3" marL="1257300" rtl="0" algn="just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 sz="2400"/>
              <a:t>}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generated scanner</a:t>
            </a:r>
            <a:endParaRPr/>
          </a:p>
        </p:txBody>
      </p:sp>
      <p:sp>
        <p:nvSpPr>
          <p:cNvPr id="326" name="Google Shape;326;p30"/>
          <p:cNvSpPr txBox="1"/>
          <p:nvPr>
            <p:ph idx="1" type="body"/>
          </p:nvPr>
        </p:nvSpPr>
        <p:spPr>
          <a:xfrm>
            <a:off x="1158922" y="2406807"/>
            <a:ext cx="9909411" cy="383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Whenever ‘yylex()’ is called, it scans tokens from the global input file </a:t>
            </a:r>
            <a:r>
              <a:rPr b="1" lang="en-US"/>
              <a:t>yyin</a:t>
            </a:r>
            <a:r>
              <a:rPr lang="en-US"/>
              <a:t> (which defaults to stdin). It continues until it either reaches an EOF (at which point it returns the value 0) or one of its actions executes a return statement.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the scanner reaches an EOF, subsequent calls are undefined unless either yyin is pointed at a new input file (in which case scanning continues from that file), or ‘yyrestart()’ is called. ‘yyrestart()’ takes one argument, a ‘FILE *’ pointer (which can be nil, if you’ve set up YY_INPUT to scan from a source other than yyin), and initializes yyin for scanning from that file.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954207" y="68188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generated scanner</a:t>
            </a:r>
            <a:endParaRPr/>
          </a:p>
        </p:txBody>
      </p:sp>
      <p:sp>
        <p:nvSpPr>
          <p:cNvPr id="332" name="Google Shape;332;p31"/>
          <p:cNvSpPr txBox="1"/>
          <p:nvPr>
            <p:ph idx="1" type="body"/>
          </p:nvPr>
        </p:nvSpPr>
        <p:spPr>
          <a:xfrm>
            <a:off x="1158922" y="2406807"/>
            <a:ext cx="9909411" cy="383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/>
              <a:t>If ‘yylex()’ stops scanning due to executing a return statement in one of the actions, the scanner may then be called again and it will resume scanning where it left off.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2021-04-12T08:46:47Z</dcterms:created>
  <dc:creator>Nayan</dc:creator>
</cp:coreProperties>
</file>